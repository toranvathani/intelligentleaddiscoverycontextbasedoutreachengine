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56" r:id="rId2"/>
    <p:sldId id="274" r:id="rId3"/>
    <p:sldId id="275" r:id="rId4"/>
    <p:sldId id="283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442F77-CE3C-4094-9174-D50FA1C64E2F}">
          <p14:sldIdLst>
            <p14:sldId id="256"/>
            <p14:sldId id="274"/>
            <p14:sldId id="275"/>
            <p14:sldId id="283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79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9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87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3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82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66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7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5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4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42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7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F96EB-D0C5-4B44-816D-D153422948F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94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AF6E-49B9-B698-32AA-2A5A65C60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2308" y="424207"/>
            <a:ext cx="8568966" cy="263950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Intelligent Lead Discovery &amp; Context-Based Outreach Engine</a:t>
            </a:r>
            <a:endParaRPr lang="en-IN" sz="4800" dirty="0">
              <a:solidFill>
                <a:schemeClr val="accent3">
                  <a:lumMod val="75000"/>
                </a:schemeClr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0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058-0FD2-72EA-E71B-BF75C699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F51D-B835-C1B1-8BD8-817308FB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Workflow Diagram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Working Prototype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Key Performance Observations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Tools Used &amp; Rationale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Limitations &amp; Safeguards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AA3F-9270-FB67-C881-1247E985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OBJECTIVE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C04122-382B-9EDD-D524-87F22E163C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3192" y="2024257"/>
            <a:ext cx="10369483" cy="423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Lead Acquisition</a:t>
            </a:r>
            <a:r>
              <a:rPr lang="en-US" dirty="0"/>
              <a:t> – Collect qualified prospect data from websites and event lists.</a:t>
            </a:r>
          </a:p>
          <a:p>
            <a:r>
              <a:rPr lang="en-US" b="1" dirty="0"/>
              <a:t>Data Enrichment &amp; AI Research</a:t>
            </a:r>
            <a:r>
              <a:rPr lang="en-US" dirty="0"/>
              <a:t> – Automatically enrich and analyze company information to understand context and pain points.</a:t>
            </a:r>
          </a:p>
          <a:p>
            <a:r>
              <a:rPr lang="en-US" b="1" dirty="0"/>
              <a:t>Personalized Outreach Generation</a:t>
            </a:r>
            <a:r>
              <a:rPr lang="en-US" dirty="0"/>
              <a:t> – Create highly tailored email content for each prospect at scale.</a:t>
            </a:r>
          </a:p>
          <a:p>
            <a:r>
              <a:rPr lang="en-US" dirty="0"/>
              <a:t> </a:t>
            </a:r>
            <a:r>
              <a:rPr lang="en-US" b="1" dirty="0"/>
              <a:t>Workflow Automation</a:t>
            </a:r>
            <a:r>
              <a:rPr lang="en-US" dirty="0"/>
              <a:t> – Automate the full pipeline from scraping to email delivery with minimal manual effort.</a:t>
            </a:r>
          </a:p>
          <a:p>
            <a:r>
              <a:rPr lang="en-US" b="1" dirty="0"/>
              <a:t>Performance Optimization</a:t>
            </a:r>
            <a:r>
              <a:rPr lang="en-US" dirty="0"/>
              <a:t> – Improve deliverability, open rates, reply rates, and ensure compliance &amp; quality control.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815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1B83F-C752-FCB6-F499-606673697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0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582E7-D20F-2236-82FE-E168559F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9677-0AFA-28F2-57D8-7F21D553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WORKFLOW DIAGRAM</a:t>
            </a:r>
            <a:endParaRPr lang="en-IN" dirty="0"/>
          </a:p>
        </p:txBody>
      </p:sp>
      <p:sp>
        <p:nvSpPr>
          <p:cNvPr id="3" name="AutoShape 2" descr=", AI generated">
            <a:extLst>
              <a:ext uri="{FF2B5EF4-FFF2-40B4-BE49-F238E27FC236}">
                <a16:creationId xmlns:a16="http://schemas.microsoft.com/office/drawing/2014/main" id="{D233FACA-718D-4075-0CA1-BB70A895BE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4719D53-EA5B-6C20-0BDB-FCCF5D017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86" y="2749404"/>
            <a:ext cx="11896627" cy="10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19AA-62AC-E0C3-67FF-11BCFB61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6B0E-4FC7-A873-91E3-0CA605C2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WORKING PROTOTYPE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7F4CDB-7720-EA29-1FE0-96D38F1F7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4696" y="1969275"/>
            <a:ext cx="10097979" cy="3423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Data Extraction (</a:t>
            </a:r>
            <a:r>
              <a:rPr lang="en-IN" b="1" dirty="0" err="1">
                <a:solidFill>
                  <a:schemeClr val="accent1"/>
                </a:solidFill>
              </a:rPr>
              <a:t>Apify</a:t>
            </a:r>
            <a:r>
              <a:rPr lang="en-IN" b="1" dirty="0">
                <a:solidFill>
                  <a:schemeClr val="accent1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Data Storage &amp; Management (Airtable)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AI Research &amp; Personalization (Gemini AI)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Workflow Automation (Make.com)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Email Delivery &amp; Performance Tracking (Gmail + Analytics)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  <a:p>
            <a:pPr marL="0" indent="0">
              <a:buNone/>
            </a:pPr>
            <a:r>
              <a:rPr lang="en-IN" dirty="0" err="1"/>
              <a:t>Apify</a:t>
            </a:r>
            <a:r>
              <a:rPr lang="en-IN" dirty="0"/>
              <a:t> → Airtable → Gemini AI → Make.com → Gmail → Analytics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9594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B03C-E273-A8CB-141F-9AFC049B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DB56-168B-19EF-EA8A-2F32ABF0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KEY PERFORMANCE OBSERVATIONS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91158F-45B9-2A32-E412-F315A01B4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4696" y="2466847"/>
            <a:ext cx="10097979" cy="242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92% Email Deliverability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(after validation &amp; throttling)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Higher Open Rates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due to AI-driven personalization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Improved Reply Rates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with contextual company references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Lower Bounce Rate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through email verification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Reduced Manual Effort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via full automation workflow</a:t>
            </a: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800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B129-0F3F-1EEF-3E2C-F538849D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7439-01A0-C4C3-4D7F-001983AC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KEY PERFORMANCE OBSERVATIONS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485C49-7FF6-60C6-1FE2-11AC982CF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439413"/>
              </p:ext>
            </p:extLst>
          </p:nvPr>
        </p:nvGraphicFramePr>
        <p:xfrm>
          <a:off x="1531554" y="1990374"/>
          <a:ext cx="9865452" cy="4019212"/>
        </p:xfrm>
        <a:graphic>
          <a:graphicData uri="http://schemas.openxmlformats.org/drawingml/2006/table">
            <a:tbl>
              <a:tblPr/>
              <a:tblGrid>
                <a:gridCol w="3288484">
                  <a:extLst>
                    <a:ext uri="{9D8B030D-6E8A-4147-A177-3AD203B41FA5}">
                      <a16:colId xmlns:a16="http://schemas.microsoft.com/office/drawing/2014/main" val="4149273851"/>
                    </a:ext>
                  </a:extLst>
                </a:gridCol>
                <a:gridCol w="3288484">
                  <a:extLst>
                    <a:ext uri="{9D8B030D-6E8A-4147-A177-3AD203B41FA5}">
                      <a16:colId xmlns:a16="http://schemas.microsoft.com/office/drawing/2014/main" val="295750604"/>
                    </a:ext>
                  </a:extLst>
                </a:gridCol>
                <a:gridCol w="3288484">
                  <a:extLst>
                    <a:ext uri="{9D8B030D-6E8A-4147-A177-3AD203B41FA5}">
                      <a16:colId xmlns:a16="http://schemas.microsoft.com/office/drawing/2014/main" val="1159681918"/>
                    </a:ext>
                  </a:extLst>
                </a:gridCol>
              </a:tblGrid>
              <a:tr h="284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accent1"/>
                          </a:solidFill>
                        </a:rPr>
                        <a:t>  Tool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solidFill>
                            <a:schemeClr val="accent1"/>
                          </a:solidFill>
                        </a:rPr>
                        <a:t>Primary Role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accent1"/>
                          </a:solidFill>
                        </a:rPr>
                        <a:t>Why Selected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01661"/>
                  </a:ext>
                </a:extLst>
              </a:tr>
              <a:tr h="7517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Web Scraping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Free-tier actors, no-code setup, scalable data extraction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587270"/>
                  </a:ext>
                </a:extLst>
              </a:tr>
              <a:tr h="5600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Database Management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Structured storage, API-ready, real-time tracking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0241"/>
                  </a:ext>
                </a:extLst>
              </a:tr>
              <a:tr h="835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Research &amp; Personalization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Free API access, strong contextual analysis, dynamic email generation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24890"/>
                  </a:ext>
                </a:extLst>
              </a:tr>
              <a:tr h="835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Workflow Automation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Visual builder, multi-tool integration, advanced routing logic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533288"/>
                  </a:ext>
                </a:extLst>
              </a:tr>
              <a:tr h="7517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Email Delivery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Free SMTP access, easy integration, reliable for testing</a:t>
                      </a: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06343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A47D0D-8DF5-62C2-E105-4C314628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64" y="2361106"/>
            <a:ext cx="551838" cy="631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48F82-7D6F-84A4-2F25-03A95AED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58" y="3088698"/>
            <a:ext cx="540250" cy="580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19F99F-80C7-9F70-8FAB-81173AD06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435" y="3741945"/>
            <a:ext cx="572467" cy="631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20C229-6F2B-1531-33B6-C67CEC3EC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937" y="4469537"/>
            <a:ext cx="625396" cy="6607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1ADD43-E892-5872-F21D-574B0ADE0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435" y="5263300"/>
            <a:ext cx="535643" cy="6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8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5DBC-08EF-629A-A5E3-94C93E3B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43A8-A097-E593-2D53-6EE67AE0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LIMITATIONS AND RISKS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5CA672-4A0F-7C06-9277-560ACAEA4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242428"/>
              </p:ext>
            </p:extLst>
          </p:nvPr>
        </p:nvGraphicFramePr>
        <p:xfrm>
          <a:off x="1659118" y="1800520"/>
          <a:ext cx="9737889" cy="4155036"/>
        </p:xfrm>
        <a:graphic>
          <a:graphicData uri="http://schemas.openxmlformats.org/drawingml/2006/table">
            <a:tbl>
              <a:tblPr/>
              <a:tblGrid>
                <a:gridCol w="3245963">
                  <a:extLst>
                    <a:ext uri="{9D8B030D-6E8A-4147-A177-3AD203B41FA5}">
                      <a16:colId xmlns:a16="http://schemas.microsoft.com/office/drawing/2014/main" val="4149273851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295750604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1159681918"/>
                    </a:ext>
                  </a:extLst>
                </a:gridCol>
              </a:tblGrid>
              <a:tr h="30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accent1"/>
                          </a:solidFill>
                        </a:rPr>
                        <a:t>Key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</a:rPr>
                        <a:t>Safeguards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01661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Data Quality Issues</a:t>
                      </a:r>
                      <a:endParaRPr lang="en-IN" sz="16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Incomplete/outdated contacts, scraping inconsistencies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Email validation, structured scraping rules, deduplication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587270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AI Hallucination Risks</a:t>
                      </a:r>
                      <a:endParaRPr lang="en-IN" sz="160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Incorrect assumptions, fabricated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Prompt constraints, real-data referencing, output validation checks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0241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Email Compliance Concerns</a:t>
                      </a:r>
                      <a:endParaRPr lang="en-IN" sz="16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GDPR/CAN-SPAM risks, unsolicited outreach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Opt-out option, targeted outreach, compliance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24890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Rate Limiting &amp; Sender Reputation</a:t>
                      </a:r>
                      <a:endParaRPr lang="en-IN" sz="16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Gmail limits, spam flagging, domain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Daily caps, throttling, SPF/DKIM setup, sender warm-up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533288"/>
                  </a:ext>
                </a:extLst>
              </a:tr>
              <a:tr h="630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Edge Case Handling</a:t>
                      </a:r>
                      <a:endParaRPr lang="en-IN" sz="16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Missing emails, duplicates, minimal website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Fallback templates, manual review, error 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06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058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507</TotalTime>
  <Words>381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Palatino Linotype</vt:lpstr>
      <vt:lpstr>Snap ITC</vt:lpstr>
      <vt:lpstr>Tempus Sans ITC</vt:lpstr>
      <vt:lpstr>Times New Roman</vt:lpstr>
      <vt:lpstr>Wingdings</vt:lpstr>
      <vt:lpstr>Gallery</vt:lpstr>
      <vt:lpstr>Intelligent Lead Discovery &amp; Context-Based Outreach Engine</vt:lpstr>
      <vt:lpstr>Contents</vt:lpstr>
      <vt:lpstr>OBJECTIVE</vt:lpstr>
      <vt:lpstr>PowerPoint Presentation</vt:lpstr>
      <vt:lpstr>WORKFLOW DIAGRAM</vt:lpstr>
      <vt:lpstr>WORKING PROTOTYPE</vt:lpstr>
      <vt:lpstr>KEY PERFORMANCE OBSERVATIONS</vt:lpstr>
      <vt:lpstr>KEY PERFORMANCE OBSERVATIONS</vt:lpstr>
      <vt:lpstr>LIMITATIONS AND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INDUSTRY, INNOVAION AND INFRASTRUCTURE</dc:title>
  <dc:creator>DARSHANIK</dc:creator>
  <cp:lastModifiedBy>Toran V Athani</cp:lastModifiedBy>
  <cp:revision>9</cp:revision>
  <dcterms:created xsi:type="dcterms:W3CDTF">2023-02-11T15:58:48Z</dcterms:created>
  <dcterms:modified xsi:type="dcterms:W3CDTF">2026-02-26T21:07:45Z</dcterms:modified>
</cp:coreProperties>
</file>